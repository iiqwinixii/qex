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6256000" cy="9144000"/>
  <p:notesSz cx="9144000" cy="16256000"/>
  <p:embeddedFontLst>
    <p:embeddedFont>
      <p:font typeface="Quattrocento Sans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762000"/>
            <a:ext cx="1270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ГБПОУ МО «Колледж «Коломна»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Специальность 09.02.07 «Информационные системы и программирование»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588000" y="2032000"/>
            <a:ext cx="5080000" cy="25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" name="Text 3"/>
          <p:cNvSpPr/>
          <p:nvPr/>
        </p:nvSpPr>
        <p:spPr>
          <a:xfrm>
            <a:off x="1270000" y="2667000"/>
            <a:ext cx="1371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8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Разработка архитектуры кроссплатформенной универсальной рабочей среды с динамической системой модулей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588000" y="4572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ДИПЛОМНЫЙ ПРОЕКТ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10000" y="5588000"/>
            <a:ext cx="863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Студент: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Тихомиров Антон Максимович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Руководитель: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Лопатин Алексей Константинович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Группа: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42212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7874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2C3E5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Содержание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016000" cy="381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77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51000" y="1778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Цель и задачи проекта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4765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778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71000" y="1778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Предметная область и анализ решений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4765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2921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2921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Техническое задание и технологии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195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921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271000" y="2921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Архитектура и проектирование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6195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06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51000" y="4064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Реализация и тестирование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47625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4064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71000" y="4064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Техника безопасности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47625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5207000"/>
            <a:ext cx="88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51000" y="5207000"/>
            <a:ext cx="558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Заключение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5905500"/>
            <a:ext cx="7112000" cy="1270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2C3E50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5" name="Text 3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 проекта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2000" y="1524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2032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Разработка программного комплекса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QEX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универсальной платформы с поддержкой динамических расширений на базе .NET MAUI Hybrid.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Демонстрация возможностей на примере созданного модуля.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82000" y="15240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Задачи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82000" y="20320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Анализ предметной области и модульных архитектур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Проектирование структуры приложения и системы расширений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Разработка механизма загрузки и отображения модулей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Создание пользовательского интерфейса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5. Тестирование и оценка качества решения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62000" y="5207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000" y="53086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715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Программная платформа, способная служить основой для построения экосистемы расширяемых приложений с динамическим подключением функциональных модулей.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241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Описание предметной области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2000" y="1524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Платформа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QEX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универсальная среда для динамического расширения функционала через внешние модули без изменения ядра приложения. Реализованы механизмы загрузки, регистрации, отображения и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изоляции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расширений.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2000" y="26670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Категории пользователей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200400"/>
          <a:ext cx="14732000" cy="3556000"/>
        </p:xfrm>
        <a:graphic>
          <a:graphicData uri="http://schemas.openxmlformats.org/drawingml/2006/table">
            <a:tbl>
              <a:tblPr/>
              <a:tblGrid>
                <a:gridCol w="3241040"/>
                <a:gridCol w="4419600"/>
                <a:gridCol w="4124960"/>
                <a:gridCol w="2946400"/>
              </a:tblGrid>
              <a:tr h="637276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Категория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Цель в системе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Основные действия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Отношение к модулям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96865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Обычный пользователь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Исполнение прикладных задач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Запуск, использование функций, настройка UI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Использует модули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8659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Администратор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Управление платформой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Установка, обновление, удаление модулей; контроль версий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Управляет жизненным циклом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981405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Разработчик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Создание новых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Разработка, отладка, упаковка модуля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Создаёт модули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241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6" name="Text 4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Анализ существующих решений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937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560608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Плагинные системы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Модульные фреймворки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UI-платформы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Требование QEX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7527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Кроссплатформенность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Десктоп / веб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Корп. / десктоп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Веб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Мобильные + десктоп + веб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27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Изоляция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Слабая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Средняя / сильная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Отсутствует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Безопасная изоляция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67527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Гибридный UI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Частично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Да, в одном модуле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27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Динамическая загрузка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675278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.NET MAUI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Частично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Родная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62000" y="5778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6000" y="58674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Вывод: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ни одно из существующих решений не удовлетворяет всем требованиям QEX. Требуется разработка собственной архитектуры для гибридной среды .NET MAUI.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482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Техническое задание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Функциональные требования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19812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расширениями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Установка, регистрация, активация, удаление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Загрузка и отображение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Модули с UI на Razor/Blazor через BlazorWebView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Взаимодействие с ядром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Стандартизированный API, передача параметров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пользователями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Роли: пользователь и администратор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4986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Нефункциональные требования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82000" y="19812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Кроссплатформенность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Windows, Android, macOS, iOS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Безопасность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Изоляция расширений, проверка целостности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Надёжность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Отказ модуля не останавливает приложение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Производительность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Загрузка модуля ≤ 500 мс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842000"/>
          <a:ext cx="14732000" cy="2413000"/>
        </p:xfrm>
        <a:graphic>
          <a:graphicData uri="http://schemas.openxmlformats.org/drawingml/2006/table">
            <a:tbl>
              <a:tblPr/>
              <a:tblGrid>
                <a:gridCol w="2209800"/>
                <a:gridCol w="6187440"/>
                <a:gridCol w="6334760"/>
              </a:tblGrid>
              <a:tr h="536222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Тип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Требование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Функциональное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Динамическая установка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Без перезапуска приложения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Функциональное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Изоляция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Ошибка модуля ≠ падение ядра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625593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Нефункциональное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Стандартизированный API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IModule-контракт для всех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482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Используемые технологии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826000"/>
        </p:xfrm>
        <a:graphic>
          <a:graphicData uri="http://schemas.openxmlformats.org/drawingml/2006/table">
            <a:tbl>
              <a:tblPr/>
              <a:tblGrid>
                <a:gridCol w="2651760"/>
                <a:gridCol w="3977640"/>
                <a:gridCol w="4419600"/>
                <a:gridCol w="3683000"/>
              </a:tblGrid>
              <a:tr h="623942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Технология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Компонент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Альтернативы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840412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.NET MAUI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Ядро платформы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Кроссплатформенный запуск, доступ к ОС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Avalonia, React Native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0412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BlazorWebView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Хост для UI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Отображение веб-интерфейсов в нативном окне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WebView2 напрямую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840412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C# + .NET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Логика ядра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Загрузка сборок, DI, логирование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C++, Rust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0412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Razor / Blazor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UI расширений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Компонентный веб-UI внутри модуля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React, Vue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840412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Манифесты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Метаданные модуля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Имя, версия, зависимости, точка входа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Атрибуты в коде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660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Обоснование: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связка .NET MAUI + BlazorWebView + C# объединяет нативные возможности и веб-интерфейсы с кроссплатформенностью и динамическим расширением функционала.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723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 приложения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62000" y="1651000"/>
            <a:ext cx="2667000" cy="12700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1651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Ядро приложения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Запуск, жизненный цикл, API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29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8E44AD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3937000" y="1651000"/>
            <a:ext cx="2667000" cy="12700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</p:sp>
      <p:sp>
        <p:nvSpPr>
          <p:cNvPr id="17" name="Text 15"/>
          <p:cNvSpPr/>
          <p:nvPr/>
        </p:nvSpPr>
        <p:spPr>
          <a:xfrm>
            <a:off x="3937000" y="1651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Менеджер расширений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Поиск, установка, активация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04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8E44AD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112000" y="1651000"/>
            <a:ext cx="2667000" cy="12700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</p:sp>
      <p:sp>
        <p:nvSpPr>
          <p:cNvPr id="20" name="Text 18"/>
          <p:cNvSpPr/>
          <p:nvPr/>
        </p:nvSpPr>
        <p:spPr>
          <a:xfrm>
            <a:off x="7112000" y="1651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Подсистема отображения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BlazorWebView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779000" y="2159000"/>
            <a:ext cx="508000" cy="0"/>
          </a:xfrm>
          <a:prstGeom prst="straightConnector1">
            <a:avLst/>
          </a:prstGeom>
          <a:noFill/>
          <a:ln w="25400">
            <a:solidFill>
              <a:srgbClr val="8E44AD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0287000" y="1651000"/>
            <a:ext cx="2667000" cy="1270000"/>
          </a:xfrm>
          <a:prstGeom prst="roundRect">
            <a:avLst>
              <a:gd name="adj" fmla="val 4000"/>
            </a:avLst>
          </a:prstGeom>
          <a:solidFill>
            <a:srgbClr val="7F8C8D"/>
          </a:solidFill>
          <a:ln/>
        </p:spPr>
      </p:sp>
      <p:sp>
        <p:nvSpPr>
          <p:cNvPr id="23" name="Text 21"/>
          <p:cNvSpPr/>
          <p:nvPr/>
        </p:nvSpPr>
        <p:spPr>
          <a:xfrm>
            <a:off x="10287000" y="1651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Хранилище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Конфигурация, настройки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70500" y="2921000"/>
            <a:ext cx="0" cy="508000"/>
          </a:xfrm>
          <a:prstGeom prst="straightConnector1">
            <a:avLst/>
          </a:prstGeom>
          <a:noFill/>
          <a:ln w="25400">
            <a:solidFill>
              <a:srgbClr val="8E44AD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3937000" y="3429000"/>
            <a:ext cx="2667000" cy="1270000"/>
          </a:xfrm>
          <a:prstGeom prst="roundRect">
            <a:avLst>
              <a:gd name="adj" fmla="val 4000"/>
            </a:avLst>
          </a:prstGeom>
          <a:solidFill>
            <a:srgbClr val="8E44AD"/>
          </a:solidFill>
          <a:ln/>
        </p:spPr>
      </p:sp>
      <p:sp>
        <p:nvSpPr>
          <p:cNvPr id="26" name="Text 24"/>
          <p:cNvSpPr/>
          <p:nvPr/>
        </p:nvSpPr>
        <p:spPr>
          <a:xfrm>
            <a:off x="3937000" y="3429000"/>
            <a:ext cx="266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Независимые модули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080000"/>
            <a:ext cx="14732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Ядро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центральный элемент: запуск, инициализация служб, управление жизненным циклом, стандартизированный API для модулей.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Менеджер расширений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поиск, установка, регистрация, активация, удаление. Проверка манифестов, контроль версий, изоляция.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Подсистема отображения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интеграция Razor-компонентов через BlazorWebView в выделенной области интерфейса.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Расширения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независимые модули (UI + логика + ресурсы), взаимодействуют с ядром через API без прямого доступа к внутренним компонентам.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723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Проектирование интерфейсов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3048000"/>
        </p:xfrm>
        <a:graphic>
          <a:graphicData uri="http://schemas.openxmlformats.org/drawingml/2006/table">
            <a:tbl>
              <a:tblPr/>
              <a:tblGrid>
                <a:gridCol w="3241040"/>
                <a:gridCol w="3241040"/>
                <a:gridCol w="5303520"/>
                <a:gridCol w="2946400"/>
              </a:tblGrid>
              <a:tr h="548385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Зона интерфейса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Назначение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Содержимое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Изменяемость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2490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Панель навигации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Перемещение между разделами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Главная, Расширения, Настройки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90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Список расширений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Обзор установленных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Иконка, название, версия, статус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Нет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62490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Рабочая область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Отображение содержимого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BlazorWebView с UI модуля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Да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4904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Статусная строка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Системная информация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Текущий модуль, уведомления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Частично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488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Ключевые принципы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5397500"/>
            <a:ext cx="6858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Адаптивность под разные устройства и экраны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Единый стиль оформления для всех модулей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Минимум действий для типовых задач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Визуальная обратная связь на действия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Явное обозначение активного модуля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2000" y="488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Логика навигации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382000" y="53975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Просмотр списка расширений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Открытие нужного модуля в один клик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Возврат на главный экран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Доступ к настройкам платформы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Переключение между модулями через панель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9723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8" name="Text 6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Модель данных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2000" y="1524000"/>
            <a:ext cx="63500" cy="1651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1600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Расширение (Extension)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2006600"/>
            <a:ext cx="6604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ID, Name, Version, Author, Description, Type, Path, IsActive — метаданные для идентификации и загрузки модуля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15240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2000" y="1524000"/>
            <a:ext cx="63500" cy="1651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1600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Конфигурация (Configuration)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20066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Глобальные настройки приложения, параметры менеджера расширений, пользовательские настройки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4290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000" y="3429000"/>
            <a:ext cx="63500" cy="165100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3505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Пользователь (User)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39116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UserID, Login, Role (пользователь/администратор), Email, Settings — разграничение прав доступа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3429000"/>
            <a:ext cx="7112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82000" y="3429000"/>
            <a:ext cx="63500" cy="1651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7" name="Text 25"/>
          <p:cNvSpPr/>
          <p:nvPr/>
        </p:nvSpPr>
        <p:spPr>
          <a:xfrm>
            <a:off x="8636000" y="35052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Журнал событий (Log)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36000" y="39116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Дата, тип события, описание, источник — установка, активация, удаление расширений, ошибки загрузки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3975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000" y="54864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Связи между сущностями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16000" y="58674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Расширения имеют собственные настройки в Конфигурации. Пользователи взаимодействуют с системой, но не изменяют структуру модулей. Журнал фиксирует операции с расширениями.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964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 системы расширений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Механизм загрузки модулей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19812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Сканирование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каталога расширений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Чтение манифеста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(JSON/XML метаданные)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структуры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зависимостей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Регистрация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в системе через IModule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Активация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и отображение в UI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4986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Структура проекта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382000" y="19812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36000" y="2108200"/>
            <a:ext cx="660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QEX.App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ядро (запуск, UI, BlazorWebView)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QEX.Core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общие компоненты (интерфейсы, модели)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7F8C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QEX.Extension.*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модули (Razor, логика)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8895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49784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Интерфейс IModule — контракт для всех расширений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3848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Каждый модуль реализует интерфейс IModule и следует жизненному циклу: Initialize → Activate → Deactivate → Dispose. Изоляция обеспечивается через отдельный контекст загрузки сборки — ошибка в модуле не влияет на работу ядра и других расширений.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964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9" name="Text 7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Тестирование и оценка качества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3429000" cy="17780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1625600"/>
            <a:ext cx="3175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Модульное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Менеджер расширений, обработка конфигурации, API взаимодействия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0" y="1524000"/>
            <a:ext cx="3429000" cy="17780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625600"/>
            <a:ext cx="3175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Интеграционное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Взаимодействие ядра и расширений, корректность загрузки и отображения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8000" y="1524000"/>
            <a:ext cx="3429000" cy="1778000"/>
          </a:xfrm>
          <a:prstGeom prst="roundRect">
            <a:avLst>
              <a:gd name="adj" fmla="val 4000"/>
            </a:avLst>
          </a:prstGeom>
          <a:solidFill>
            <a:srgbClr val="8E44AD"/>
          </a:solidFill>
          <a:ln/>
        </p:spPr>
      </p:sp>
      <p:sp>
        <p:nvSpPr>
          <p:cNvPr id="18" name="Text 16"/>
          <p:cNvSpPr/>
          <p:nvPr/>
        </p:nvSpPr>
        <p:spPr>
          <a:xfrm>
            <a:off x="8255000" y="1625600"/>
            <a:ext cx="3175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Функциональное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Соответствие системы заявленным требованиям и сценариям использования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811000" y="1524000"/>
            <a:ext cx="3683000" cy="1778000"/>
          </a:xfrm>
          <a:prstGeom prst="roundRect">
            <a:avLst>
              <a:gd name="adj" fmla="val 4000"/>
            </a:avLst>
          </a:prstGeom>
          <a:solidFill>
            <a:srgbClr val="7F8C8D"/>
          </a:solidFill>
          <a:ln/>
        </p:spPr>
      </p:sp>
      <p:sp>
        <p:nvSpPr>
          <p:cNvPr id="20" name="Text 18"/>
          <p:cNvSpPr/>
          <p:nvPr/>
        </p:nvSpPr>
        <p:spPr>
          <a:xfrm>
            <a:off x="11938000" y="1625600"/>
            <a:ext cx="34290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UI-тестирование</a:t>
            </a:r>
            <a:endParaRPr lang="en-US" sz="1600" dirty="0"/>
          </a:p>
          <a:p>
            <a:pPr>
              <a:lnSpc>
                <a:spcPct val="140000"/>
              </a:lnSpc>
              <a:spcBef>
                <a:spcPts val="400"/>
              </a:spcBef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Навигация, отображение модулей, адаптивность интерфейса на разных устройствах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3619500"/>
            <a:ext cx="508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Критерии качества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27500"/>
          <a:ext cx="14732000" cy="2540000"/>
        </p:xfrm>
        <a:graphic>
          <a:graphicData uri="http://schemas.openxmlformats.org/drawingml/2006/table">
            <a:tbl>
              <a:tblPr/>
              <a:tblGrid>
                <a:gridCol w="3241040"/>
                <a:gridCol w="5892800"/>
                <a:gridCol w="5598160"/>
              </a:tblGrid>
              <a:tr h="43397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Критерий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Описание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Результат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1206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Надёжность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Устойчивость к ошибкам, изоляция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Сбой модуля не останавливает ядро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06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Удобство использования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Логичность интерфейса, простота навигации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Интуитивно понятный UI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421206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Производительность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Скорость запуска, загрузка расширений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В пределах нормы (&lt; 500 мс)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1206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Расширяемость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Подключение модулей без изменения ядра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Корректная интеграция модулей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B"/>
                    </a:solidFill>
                  </a:tcPr>
                </a:tc>
              </a:tr>
              <a:tr h="421206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Сопровождаемость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Структура проекта, читаемость кода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1A1A1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Чёткое разделение компонентов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20500" y="0"/>
            <a:ext cx="23241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620500" y="457200"/>
            <a:ext cx="23241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8"/>
          <p:cNvSpPr/>
          <p:nvPr/>
        </p:nvSpPr>
        <p:spPr>
          <a:xfrm>
            <a:off x="13944600" y="0"/>
            <a:ext cx="23114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1016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Техника безопасности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762000" y="1498600"/>
            <a:ext cx="6858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Организация рабочего места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1981200"/>
            <a:ext cx="6858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Расстояние до монитора — вытянутая рука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Центр экрана чуть ниже уровня глаз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Клавиатура и мышь на уровне локтя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Туловище вертикально, спина опирается на спинку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Ступни на полу или подставке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Локти у туловища, угол в локте 90°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0" y="1498600"/>
            <a:ext cx="7112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Профилактика заболеваний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82000" y="19812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Перерывы каждые 45-60 минут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Упражнения для глаз (моргание, фокусировка)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Упражнения для рук (сжимание, вращение)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Лечебная гимнастика для спины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Влажная уборка и проветривание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Контроль влажности воздуха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334000"/>
            <a:ext cx="14732000" cy="1397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000" y="5334000"/>
            <a:ext cx="63500" cy="13970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435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E44A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Риски при длительной работе за ПК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8166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Нарушение осанки и заболевания позвоночника, синдром сухого глаза и нарушения зрения, туннельный синдром запястья, хронический стресс, сердечно-сосудистые заболевания.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Цель и задачи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3241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Предметная область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6482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ТЗ и технологии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723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Архитектура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2964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Реализация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20500" y="0"/>
            <a:ext cx="23241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ТБ и заключение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944600" y="0"/>
            <a:ext cx="23114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944600" y="457200"/>
            <a:ext cx="2311400" cy="508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787400"/>
            <a:ext cx="50800" cy="4064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2" name="Text 10"/>
          <p:cNvSpPr/>
          <p:nvPr/>
        </p:nvSpPr>
        <p:spPr>
          <a:xfrm>
            <a:off x="965200" y="762000"/>
            <a:ext cx="762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762000" y="1524000"/>
            <a:ext cx="14732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6000" y="1676400"/>
            <a:ext cx="14224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Результатом работы является программная платформа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QEX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способная служить основой для построения экосистемы расширяемых приложений.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Все поставленные задачи выполнены: проведён анализ предметной области, спроектирована архитектура, реализован механизм динамического подключения модулей, создан пользовательский интерфейс, проведено комплексное тестирование.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2000" y="4381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400" b="1" dirty="0">
                <a:solidFill>
                  <a:srgbClr val="2C3E5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Направления развития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48895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Расширение каталога модулей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разработка дополнительных функциональных модулей для демонстрации возможностей платформы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Улучшение системы безопасности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цифровая подпись модулей, песочница для выполнения кода расширений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Оптимизация производительности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кэширование, ленивая загрузка компонентов, профилирование</a:t>
            </a:r>
            <a:endParaRPr lang="en-US" sz="2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b="1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Магазин расширений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2000" dirty="0">
                <a:solidFill>
                  <a:srgbClr val="1A1A1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централизованное хранилище модулей с системой версионирования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10000" y="7366000"/>
            <a:ext cx="863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2C3E5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Спасибо за внимание!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7F8C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 / 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QEX — Кроссплатформенная рабочая среда с динамической системой модулей</dc:title>
  <dc:subject>QEX — Кроссплатформенная рабочая среда с динамической системой модулей</dc:subject>
  <dc:creator>Kimi</dc:creator>
  <cp:lastModifiedBy>Kimi</cp:lastModifiedBy>
  <cp:revision>1</cp:revision>
  <dcterms:created xsi:type="dcterms:W3CDTF">2026-05-24T09:53:37Z</dcterms:created>
  <dcterms:modified xsi:type="dcterms:W3CDTF">2026-05-24T09:53:37Z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{"Label":"QEX — Кроссплатформенная рабочая среда с динамической системой модулей","ContentProducer":"001191110108MACG2KBH8F10000","ProduceID":"19e595ff-58b2-8bdf-8000-000022e829ed","ReservedCode1":"","ContentPropagator":"001191110108MACG2KBH8F20000","PropagateID":"19e595ff-58b2-8bdf-8000-000022e829ed","ReservedCode2":""}</vt:lpwstr>
  </property>
</Properties>
</file>