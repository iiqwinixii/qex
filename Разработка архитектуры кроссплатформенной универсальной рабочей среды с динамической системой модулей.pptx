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0" r:id="rId13"/>
  </p:sldIdLst>
  <p:sldSz cx="16256000" cy="9144000"/>
  <p:notesSz cx="9144000" cy="16256000"/>
  <p:embeddedFontLst>
    <p:embeddedFont>
      <p:font typeface="Quattrocento Sans" panose="020B0502050000020003" pitchFamily="34" charset="0"/>
      <p:regular r:id="rId15"/>
      <p:bold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55A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A9-4CC8-A671-101E4F5A20B4}"/>
              </c:ext>
            </c:extLst>
          </c:dPt>
          <c:dPt>
            <c:idx val="1"/>
            <c:bubble3D val="0"/>
            <c:spPr>
              <a:solidFill>
                <a:srgbClr val="54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A9-4CC8-A671-101E4F5A20B4}"/>
              </c:ext>
            </c:extLst>
          </c:dPt>
          <c:dPt>
            <c:idx val="2"/>
            <c:bubble3D val="0"/>
            <c:spPr>
              <a:solidFill>
                <a:srgbClr val="7890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A9-4CC8-A671-101E4F5A20B4}"/>
              </c:ext>
            </c:extLst>
          </c:dPt>
          <c:dPt>
            <c:idx val="3"/>
            <c:bubble3D val="0"/>
            <c:spPr>
              <a:solidFill>
                <a:srgbClr val="B0BE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A9-4CC8-A671-101E4F5A20B4}"/>
              </c:ext>
            </c:extLst>
          </c:dPt>
          <c:dPt>
            <c:idx val="4"/>
            <c:bubble3D val="0"/>
            <c:spPr>
              <a:solidFill>
                <a:srgbClr val="CFD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A9-4CC8-A671-101E4F5A20B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DA9-4CC8-A671-101E4F5A20B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DA9-4CC8-A671-101E4F5A20B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DA9-4CC8-A671-101E4F5A20B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DA9-4CC8-A671-101E4F5A20B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DA9-4CC8-A671-101E4F5A20B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Зарплата</c:v>
                </c:pt>
                <c:pt idx="1">
                  <c:v>Накладные</c:v>
                </c:pt>
                <c:pt idx="2">
                  <c:v>Соц. фонды</c:v>
                </c:pt>
                <c:pt idx="3">
                  <c:v>Материалы</c:v>
                </c:pt>
                <c:pt idx="4">
                  <c:v>Прочее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54.92</c:v>
                </c:pt>
                <c:pt idx="1">
                  <c:v>17.03</c:v>
                </c:pt>
                <c:pt idx="2">
                  <c:v>16.48</c:v>
                </c:pt>
                <c:pt idx="3">
                  <c:v>10.210000000000001</c:v>
                </c:pt>
                <c:pt idx="4">
                  <c:v>1.36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A9-4CC8-A671-101E4F5A2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/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198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IQWINIXII/QE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16000" y="635000"/>
            <a:ext cx="571500" cy="571500"/>
          </a:xfrm>
          <a:prstGeom prst="ellipse">
            <a:avLst/>
          </a:prstGeom>
          <a:solidFill>
            <a:srgbClr val="ECEFF1"/>
          </a:solidFill>
          <a:ln w="25400">
            <a:solidFill>
              <a:srgbClr val="90A4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4500" y="635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ГБПОУ МО «Колледж «Коломна»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14500" y="10668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09.02.07 Информационные системы и программирование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540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016000" y="28575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0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Разработка архитектуры кроссплатформенной универсальной рабочей среды с динамической системой модулей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46355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016000" y="5334000"/>
            <a:ext cx="762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Студент: </a:t>
            </a: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Тихомиров А.М.</a:t>
            </a:r>
            <a:r>
              <a:rPr lang="en-US" sz="22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Руководитель: </a:t>
            </a:r>
            <a:r>
              <a:rPr lang="en-US" sz="22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Лопатин А.К.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5905500"/>
            <a:ext cx="1016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Дипломный проект · Группа 42212 · 2026 г.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065000" y="8255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ДИПЛОМНЫЙ ПРОЕКТ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635000"/>
            <a:ext cx="38100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Содержание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2222500"/>
            <a:ext cx="8128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2260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Анализ предметной области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3302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16000" y="3619500"/>
            <a:ext cx="8128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3657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системы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4699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16000" y="5016500"/>
            <a:ext cx="8128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5054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Реализация и оценка качества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6096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 и пользователи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5875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Платформа </a:t>
            </a:r>
            <a:r>
              <a:rPr lang="en-US" sz="2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QEX</a:t>
            </a:r>
            <a:r>
              <a:rPr lang="en-US" sz="2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универсальная расширяемая платформа на </a:t>
            </a:r>
            <a:r>
              <a:rPr lang="en-US" sz="2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.NET MAUI Hybrid</a:t>
            </a:r>
            <a:r>
              <a:rPr lang="en-US" sz="2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динамически подключаемыми модулями.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3048000"/>
            <a:ext cx="4445000" cy="3556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30480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302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3873500"/>
            <a:ext cx="393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Использует доступные функции через интерфейс. Запускает модули, настраивает интерфейс. Не управляет модулями.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500" y="3048000"/>
            <a:ext cx="4445000" cy="3556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2" name="Shape 10"/>
          <p:cNvSpPr/>
          <p:nvPr/>
        </p:nvSpPr>
        <p:spPr>
          <a:xfrm>
            <a:off x="5905500" y="30480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3" name="Text 11"/>
          <p:cNvSpPr/>
          <p:nvPr/>
        </p:nvSpPr>
        <p:spPr>
          <a:xfrm>
            <a:off x="6159500" y="3302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Администратор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0" y="3873500"/>
            <a:ext cx="393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Управляет модулями: установка, обновление, удаление. Контролирует версии, проверяет логи.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3048000"/>
            <a:ext cx="4445000" cy="3556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30480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3302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Разработчик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3873500"/>
            <a:ext cx="393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Создаёт модули с интерфейсом и логикой. Использует API-контракты ядра. Разрабатывает независимо.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Анализ существующих решений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87500"/>
          <a:ext cx="14224000" cy="4699000"/>
        </p:xfrm>
        <a:graphic>
          <a:graphicData uri="http://schemas.openxmlformats.org/drawingml/2006/table">
            <a:tbl>
              <a:tblPr/>
              <a:tblGrid>
                <a:gridCol w="312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98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7280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Плагинные системы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Модульные фреймворки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Требование QEX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793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Кроссплатформенность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Десктоп / веб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Корпоративные / десктоп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Мобильные + десктоп + веб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93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Изоляция модулей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Слабая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Средняя / сильная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Безопасная изоляция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93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Гибридный UI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Нативный + веб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930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Совместимость с MAUI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Частично (MEF)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Родная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16000" y="65405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Вывод:</a:t>
            </a:r>
            <a:r>
              <a:rPr lang="en-US" sz="2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ни одно из существующих решений не удовлетворяет всем требованиям QEX. Необходима собственная архитектура для гибридной среды </a:t>
            </a:r>
            <a:r>
              <a:rPr lang="en-US" sz="2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.NET MAUI</a:t>
            </a:r>
            <a:r>
              <a:rPr lang="en-US" sz="2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Постановка задачи и требования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587500"/>
            <a:ext cx="14224000" cy="1016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1651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Цель: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создание расширяемой платформы на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.NET MAUI Hybrid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 динамическим подключением внешних модулей без пересборки ядра.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85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Функциональные требования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4290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Управление расширениями (установка, регистрация, активация, удаление)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Загрузка и отображение модулей через BlazorWebView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Стандартизированный API для обмена данными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Система ролей (</a:t>
            </a:r>
            <a:r>
              <a:rPr lang="en-US" sz="2600" dirty="0" err="1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пользователь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0" y="2857500"/>
            <a:ext cx="0" cy="4572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382000" y="285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Нефункциональные требования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34290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Кроссплатформенность (Windows, Android, iOS)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Безопасная изоляция расширений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Производительность: загрузка ≤ 500 мс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Надёжность: сбой модуля ≠ сбой системы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Используемые технологии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87500"/>
          <a:ext cx="14224000" cy="5080001"/>
        </p:xfrm>
        <a:graphic>
          <a:graphicData uri="http://schemas.openxmlformats.org/drawingml/2006/table">
            <a:tbl>
              <a:tblPr/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9426"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Технология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Компонент / роль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Отвечает за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Альтернативы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.NET MAUI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Ядро платформы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Кроссплатформенный запуск, доступ к ОС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Avalonia, React Native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BlazorWebView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Хост для UI модулей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Отображение веб-интерфейсов модулей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WebView2 напрямую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C# + .NET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Логика ядра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Загрузка сборок, DI, логирование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C++/Rust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Razor / Blazor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UI расширений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Компонентный веб-UI внутри модуля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React/Vue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Манифесты JSON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Метаданные модуля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Имя, версия, зависимости, точка входа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dirty="0">
                          <a:solidFill>
                            <a:srgbClr val="3747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Атрибуты в коде</a:t>
                      </a:r>
                      <a:endParaRPr lang="en-US" sz="2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16000" y="69215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Выбор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.NET MAUI + BlazorWebView + C#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обусловлен сочетанием нативных возможностей, веб-интерфейсов и кроссплатформенности.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6" name="Text 6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 приложения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587500"/>
            <a:ext cx="14224000" cy="3556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Shape 5"/>
          <p:cNvSpPr/>
          <p:nvPr/>
        </p:nvSpPr>
        <p:spPr>
          <a:xfrm>
            <a:off x="1270000" y="177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177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Ядро приложения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8000" y="177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455A64"/>
          </a:solidFill>
          <a:ln/>
        </p:spPr>
      </p:sp>
      <p:sp>
        <p:nvSpPr>
          <p:cNvPr id="10" name="Text 8"/>
          <p:cNvSpPr/>
          <p:nvPr/>
        </p:nvSpPr>
        <p:spPr>
          <a:xfrm>
            <a:off x="4318000" y="177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Менеджер расширений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6000" y="177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455A64"/>
          </a:solidFill>
          <a:ln/>
        </p:spPr>
      </p:sp>
      <p:sp>
        <p:nvSpPr>
          <p:cNvPr id="12" name="Text 10"/>
          <p:cNvSpPr/>
          <p:nvPr/>
        </p:nvSpPr>
        <p:spPr>
          <a:xfrm>
            <a:off x="7366000" y="177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BlazorWebView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414000" y="1778000"/>
            <a:ext cx="2540000" cy="762000"/>
          </a:xfrm>
          <a:prstGeom prst="roundRect">
            <a:avLst>
              <a:gd name="adj" fmla="val 8000"/>
            </a:avLst>
          </a:prstGeom>
          <a:solidFill>
            <a:srgbClr val="455A64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0" y="177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Хранилище данных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858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906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270000" y="3302000"/>
            <a:ext cx="11684000" cy="762000"/>
          </a:xfrm>
          <a:prstGeom prst="roundRect">
            <a:avLst>
              <a:gd name="adj" fmla="val 5000"/>
            </a:avLst>
          </a:prstGeom>
          <a:solidFill>
            <a:srgbClr val="546E7A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3302000"/>
            <a:ext cx="1168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Расширения (независимые модули: интерфейс + логика + ресурсы)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12000" y="2540000"/>
            <a:ext cx="0" cy="76200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arrow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016000" y="5461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Ядро и менеджер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6032500"/>
            <a:ext cx="685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Ядро управляет жизненным циклом и предоставляет API. Менеджер расширений отвечает за поиск, установку, регистрацию и активацию модулей.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8000" y="5461000"/>
            <a:ext cx="0" cy="2667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382000" y="5461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Отображение и хранение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0" y="6032500"/>
            <a:ext cx="685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BlazorWebView интегрирует веб-интерфейсы расширений. Хранилище конфигурации сохраняет состояние между запусками.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Модель данных и интерфейсы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58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Ключевые сущности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261595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Расширение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ID, название, версия, автор, тип, путь, статус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Конфигурация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глобальные и пользовательские настройки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Пользователь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ID, логин, роль, настройки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Журнал событий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операции, ошибки, уведомления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7999" y="1587499"/>
            <a:ext cx="45719" cy="4269957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382000" y="158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Структура интерфейса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261595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Панель навигации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Главная, Расширения, Настройки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Список расширений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иконка, название, версия, статус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Рабочая область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BlazorWebView с UI модуля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Статусная строка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текущий модуль, уведомления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5959061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016000" y="596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Принципы навигации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6540500"/>
            <a:ext cx="1422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Минимизация действий для типовых задач: просмотр расширений, открытие модуля, возврат на главный экран. На мобильных устройствах панель сворачивается в выезжающее меню. Единый стиль оформления для всех модулей обеспечивает целостность интерфейса.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Проектирование системы расширений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587500"/>
            <a:ext cx="142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Структура проекта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222500"/>
            <a:ext cx="4445000" cy="1778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222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24130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QEX.App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2895600"/>
            <a:ext cx="393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Ядро приложения: запуск, навигация, BlazorWebView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5500" y="2222500"/>
            <a:ext cx="4445000" cy="1778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2" name="Shape 10"/>
          <p:cNvSpPr/>
          <p:nvPr/>
        </p:nvSpPr>
        <p:spPr>
          <a:xfrm>
            <a:off x="5905500" y="2222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3" name="Text 11"/>
          <p:cNvSpPr/>
          <p:nvPr/>
        </p:nvSpPr>
        <p:spPr>
          <a:xfrm>
            <a:off x="6159500" y="24130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QEX.Core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0" y="2895600"/>
            <a:ext cx="393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Интерфейсы, модели данных, утилиты, контракты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222500"/>
            <a:ext cx="4445000" cy="1778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2222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241300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QEX.Extension.*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895600"/>
            <a:ext cx="393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Проекты расширений: Razor-компоненты, манифесты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" y="4064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016000" y="43180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Механизм расширений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953000"/>
            <a:ext cx="1422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Каждый модуль реализует интерфейс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IModule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следует жизненному циклу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Манифест JSON/XML описывает метаданные: название, версия, зависимости, точка входа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Модули изолированы: ошибка модуля не приводит к падению ядра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Модули работают только через публичное API, без прямого доступа к ядру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Разработка и тестирование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58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Реализация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1590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Серверная часть: менеджер расширений, API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Клиентская часть: интерфейс на MAUI + XAML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Система расширений: загрузка, регистрация, изоляция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GitHub: </a:t>
            </a:r>
            <a:r>
              <a:rPr lang="en-US" sz="2600" u="sng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github.com/IIQWINIXII/QEX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587500"/>
            <a:ext cx="0" cy="3937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382000" y="158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Виды тестирования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159000"/>
            <a:ext cx="6858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Модульное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менеджер, конфигурация, API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Интеграционное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ядро + расширения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Функциональное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соответствие ТЗ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навигация, отображение, адаптивность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5715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016000" y="5969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Результаты тестирования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6540500"/>
            <a:ext cx="1422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Система обеспечивает стабильную производительность при работе с несколькими модулями. Время инициализации расширений остаётся в допустимых пределах (≤ 500 мс). Сбой модуля не приводит к остановке приложения.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660400"/>
            <a:ext cx="1143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Оценка качества и экономика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3716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58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Критерии качества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1590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Надёжность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изоляция расширений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Производительность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загрузка ≤ 500 мс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Расширяемость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подключение без изменения ядра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2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Сопровождаемость</a:t>
            </a: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чёткое разделение компонентов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587500"/>
            <a:ext cx="0" cy="4191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382000" y="15875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Себестоимость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2159000"/>
            <a:ext cx="685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30 258,92 ₽</a:t>
            </a:r>
            <a:endParaRPr lang="en-US" sz="16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8382000" y="2921000"/>
          <a:ext cx="6858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1016000" y="5969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016000" y="6223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Выводы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6000" y="67945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Основная сумма себестоимости — зарплата персонала (54,92%). Платформа QEX демонстрирует высокую расширяемость и надёжность благодаря изоляции модулей.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3048000" y="3810000"/>
            <a:ext cx="10160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0000" y="5334000"/>
            <a:ext cx="3556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3048000" y="56515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Студент: </a:t>
            </a:r>
            <a:r>
              <a:rPr lang="en-US" sz="2000" b="1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Тихомиров Антон Максимович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Руководитель: Лопатин А.К. | ГБПОУ МО «Колледж «Коломна»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4605000" y="8636000"/>
            <a:ext cx="101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881</Words>
  <Application>Microsoft Office PowerPoint</Application>
  <PresentationFormat>Произвольный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QuattrocentoSans</vt:lpstr>
      <vt:lpstr>Arial</vt:lpstr>
      <vt:lpstr>Quattrocento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архитектуры кроссплатформенной универсальной рабочей среды с динамической системой модулей</dc:title>
  <dc:subject>Разработка архитектуры кроссплатформенной универсальной рабочей среды с динамической системой модулей</dc:subject>
  <dc:creator>Kimi</dc:creator>
  <cp:lastModifiedBy>Anton Tikhomirov</cp:lastModifiedBy>
  <cp:revision>5</cp:revision>
  <dcterms:created xsi:type="dcterms:W3CDTF">2026-05-22T08:02:43Z</dcterms:created>
  <dcterms:modified xsi:type="dcterms:W3CDTF">2026-05-22T08:24:58Z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{"Label":"Разработка архитектуры кроссплатформенной универсальной рабочей среды с динамической системой модулей","ContentProducer":"001191110108MACG2KBH8F10000","ProduceID":"19e4eb44-7962-8299-8000-0000ae5e8b0f","ReservedCode1":"","ContentPropagator":"001191110108MACG2KBH8F20000","PropagateID":"19e4eb44-7962-8299-8000-0000ae5e8b0f","ReservedCode2":""}</vt:lpwstr>
  </property>
</Properties>
</file>